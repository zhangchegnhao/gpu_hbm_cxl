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6bab2fe2cb45f8" /><Relationship Type="http://schemas.openxmlformats.org/officeDocument/2006/relationships/extended-properties" Target="/docProps/app.xml" Id="Rda55c3233c3945b2" /><Relationship Type="http://schemas.openxmlformats.org/officeDocument/2006/relationships/officeDocument" Target="/ppt/presentation.xml" Id="R01787f90b05944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ae58f6a013471e"/>
  </p:sldMasterIdLst>
  <p:notesMasterIdLst>
    <p:notesMasterId xmlns:r="http://schemas.openxmlformats.org/officeDocument/2006/relationships" r:id="R2253e5bf0acc4793"/>
  </p:notesMasterIdLst>
  <p:sldIdLst>
    <p:sldId xmlns:r="http://schemas.openxmlformats.org/officeDocument/2006/relationships" id="256" r:id="R75304bd1fe104962"/>
    <p:sldId xmlns:r="http://schemas.openxmlformats.org/officeDocument/2006/relationships" id="257" r:id="R498fdee792f7466a"/>
    <p:sldId xmlns:r="http://schemas.openxmlformats.org/officeDocument/2006/relationships" id="258" r:id="R804aaa131a584c80"/>
    <p:sldId xmlns:r="http://schemas.openxmlformats.org/officeDocument/2006/relationships" id="259" r:id="R30be1578002240c5"/>
    <p:sldId xmlns:r="http://schemas.openxmlformats.org/officeDocument/2006/relationships" id="260" r:id="Rc8db1f7acdd04d9d"/>
    <p:sldId xmlns:r="http://schemas.openxmlformats.org/officeDocument/2006/relationships" id="261" r:id="Re5bf589ddd7343f9"/>
    <p:sldId xmlns:r="http://schemas.openxmlformats.org/officeDocument/2006/relationships" id="262" r:id="R4b486f99236f41f1"/>
    <p:sldId xmlns:r="http://schemas.openxmlformats.org/officeDocument/2006/relationships" id="263" r:id="R2a45906fd6c44900"/>
    <p:sldId xmlns:r="http://schemas.openxmlformats.org/officeDocument/2006/relationships" id="264" r:id="R84344b7a41e647d0"/>
    <p:sldId xmlns:r="http://schemas.openxmlformats.org/officeDocument/2006/relationships" id="265" r:id="R9c75d860014a4f90"/>
    <p:sldId xmlns:r="http://schemas.openxmlformats.org/officeDocument/2006/relationships" id="266" r:id="R067f8409eeaf47b4"/>
    <p:sldId xmlns:r="http://schemas.openxmlformats.org/officeDocument/2006/relationships" id="267" r:id="R5a8bc77344a84d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616cba55944527" /><Relationship Type="http://schemas.openxmlformats.org/officeDocument/2006/relationships/slideMaster" Target="/ppt/slideMasters/slideMaster1.xml" Id="Ra5ae58f6a013471e" /><Relationship Type="http://schemas.openxmlformats.org/officeDocument/2006/relationships/notesMaster" Target="/ppt/notesMasters/notesMaster1.xml" Id="R2253e5bf0acc4793" /><Relationship Type="http://schemas.openxmlformats.org/officeDocument/2006/relationships/presProps" Target="/ppt/presProps.xml" Id="Rb24ae33fc623427d" /><Relationship Type="http://schemas.openxmlformats.org/officeDocument/2006/relationships/tableStyles" Target="/ppt/tableStyles.xml" Id="Rc387a9772ae24845" /><Relationship Type="http://schemas.openxmlformats.org/officeDocument/2006/relationships/slide" Target="/ppt/slides/slide1.xml" Id="R75304bd1fe104962" /><Relationship Type="http://schemas.openxmlformats.org/officeDocument/2006/relationships/slide" Target="/ppt/slides/slide2.xml" Id="R498fdee792f7466a" /><Relationship Type="http://schemas.openxmlformats.org/officeDocument/2006/relationships/slide" Target="/ppt/slides/slide3.xml" Id="R804aaa131a584c80" /><Relationship Type="http://schemas.openxmlformats.org/officeDocument/2006/relationships/slide" Target="/ppt/slides/slide4.xml" Id="R30be1578002240c5" /><Relationship Type="http://schemas.openxmlformats.org/officeDocument/2006/relationships/slide" Target="/ppt/slides/slide5.xml" Id="Rc8db1f7acdd04d9d" /><Relationship Type="http://schemas.openxmlformats.org/officeDocument/2006/relationships/slide" Target="/ppt/slides/slide6.xml" Id="Re5bf589ddd7343f9" /><Relationship Type="http://schemas.openxmlformats.org/officeDocument/2006/relationships/slide" Target="/ppt/slides/slide7.xml" Id="R4b486f99236f41f1" /><Relationship Type="http://schemas.openxmlformats.org/officeDocument/2006/relationships/slide" Target="/ppt/slides/slide8.xml" Id="R2a45906fd6c44900" /><Relationship Type="http://schemas.openxmlformats.org/officeDocument/2006/relationships/slide" Target="/ppt/slides/slide9.xml" Id="R84344b7a41e647d0" /><Relationship Type="http://schemas.openxmlformats.org/officeDocument/2006/relationships/slide" Target="/ppt/slides/slide10.xml" Id="R9c75d860014a4f90" /><Relationship Type="http://schemas.openxmlformats.org/officeDocument/2006/relationships/slide" Target="/ppt/slides/slide11.xml" Id="R067f8409eeaf47b4" /><Relationship Type="http://schemas.openxmlformats.org/officeDocument/2006/relationships/slide" Target="/ppt/slides/slide12.xml" Id="R5a8bc77344a84d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a26556572545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55f6dc51404bd3" /><Relationship Type="http://schemas.openxmlformats.org/officeDocument/2006/relationships/notesMaster" Target="/ppt/notesMasters/notesMaster1.xml" Id="R93981cfd8e684c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dc021be8bd4734" /><Relationship Type="http://schemas.openxmlformats.org/officeDocument/2006/relationships/notesMaster" Target="/ppt/notesMasters/notesMaster1.xml" Id="R427ae7184ae14e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4f9199832349fa" /><Relationship Type="http://schemas.openxmlformats.org/officeDocument/2006/relationships/notesMaster" Target="/ppt/notesMasters/notesMaster1.xml" Id="R94a195abc97345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1573c4a6114f40" /><Relationship Type="http://schemas.openxmlformats.org/officeDocument/2006/relationships/notesMaster" Target="/ppt/notesMasters/notesMaster1.xml" Id="Rb2fcd4340a444b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116f21c69b4615" /><Relationship Type="http://schemas.openxmlformats.org/officeDocument/2006/relationships/notesMaster" Target="/ppt/notesMasters/notesMaster1.xml" Id="Ra4f9ed5a66794d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93d2d0c99f4c83" /><Relationship Type="http://schemas.openxmlformats.org/officeDocument/2006/relationships/notesMaster" Target="/ppt/notesMasters/notesMaster1.xml" Id="R5a406d8d93c34c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4df5e886f242c3" /><Relationship Type="http://schemas.openxmlformats.org/officeDocument/2006/relationships/notesMaster" Target="/ppt/notesMasters/notesMaster1.xml" Id="R44bc2a81cce24b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5086035dbd40d5" /><Relationship Type="http://schemas.openxmlformats.org/officeDocument/2006/relationships/notesMaster" Target="/ppt/notesMasters/notesMaster1.xml" Id="Ra6588e19fbd747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6f488e5ba54b32" /><Relationship Type="http://schemas.openxmlformats.org/officeDocument/2006/relationships/notesMaster" Target="/ppt/notesMasters/notesMaster1.xml" Id="R4bcd67e3a1eb4f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d9bcd886674f9d" /><Relationship Type="http://schemas.openxmlformats.org/officeDocument/2006/relationships/notesMaster" Target="/ppt/notesMasters/notesMaster1.xml" Id="R9b53d2ff9c7f44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25eda0897c4735" /><Relationship Type="http://schemas.openxmlformats.org/officeDocument/2006/relationships/notesMaster" Target="/ppt/notesMasters/notesMaster1.xml" Id="R08d15f877fac4e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1960d6292e431f" /><Relationship Type="http://schemas.openxmlformats.org/officeDocument/2006/relationships/notesMaster" Target="/ppt/notesMasters/notesMaster1.xml" Id="R0464f2f66e5140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Experiment outputs: results/full_decode_real_pilot_cycle_v1/*/summary.json</a:t>
            </a:r>
          </a:p>
          <a:p xmlns:a="http://schemas.openxmlformats.org/drawingml/2006/main">
            <a:r>
              <a:t>Trace: traces/real/qwen3_30b_a3b/pilot_8x8/router.jsonl</a:t>
            </a:r>
          </a:p>
          <a:p xmlns:a="http://schemas.openxmlformats.org/drawingml/2006/main">
            <a:r>
              <a:t>Analysis: docs/full_decode_real_pilot_cycle_v1_analysis.md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Method definition: src/sieve_replay/policy/policies.py</a:t>
            </a:r>
          </a:p>
          <a:p xmlns:a="http://schemas.openxmlformats.org/drawingml/2006/main">
            <a:r>
              <a:t>Experiment scope and limits: AGENTS.md, docs/real_router_trace_stage.md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Architecture scope: AGENTS.md, sections 当前实现范围 and 科研结论边界</a:t>
            </a:r>
          </a:p>
          <a:p xmlns:a="http://schemas.openxmlformats.org/drawingml/2006/main">
            <a:r>
              <a:t>Hardware config: configs/hardware/sieve_b200_1gpu_cycle_v1.json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Trace and manifest: traces/real/qwen3_30b_a3b/pilot_8x8/</a:t>
            </a:r>
          </a:p>
          <a:p xmlns:a="http://schemas.openxmlformats.org/drawingml/2006/main">
            <a:r>
              <a:t>Cache evidence: ramulator/timing_tables/generated/qwen3_real_pilot_decode_cycle_v1_contention.evidence.json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 definitions: src/sieve_replay/replay.py, src/sieve_replay/report/writer.py</a:t>
            </a:r>
          </a:p>
          <a:p xmlns:a="http://schemas.openxmlformats.org/drawingml/2006/main">
            <a:r>
              <a:t>Timing table: ramulator/timing_tables/generated/qwen3_real_pilot_decode_cycle_v1_contention.json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Policy implementations: src/sieve_replay/policy/policies.py</a:t>
            </a:r>
          </a:p>
          <a:p xmlns:a="http://schemas.openxmlformats.org/drawingml/2006/main">
            <a:r>
              <a:t>Results: results/full_decode_real_pilot_cycle_v1/*/summary.json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Chart data: results/full_decode_real_pilot_cycle_v1/comparison.json</a:t>
            </a:r>
          </a:p>
          <a:p xmlns:a="http://schemas.openxmlformats.org/drawingml/2006/main">
            <a:r>
              <a:t>Scope: 48 layers × 8 Decode steps = 384 layer-batches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Prefix distribution: results/full_decode_real_pilot_cycle_v1/sieve-cycle-v1/summary.json</a:t>
            </a:r>
          </a:p>
          <a:p xmlns:a="http://schemas.openxmlformats.org/drawingml/2006/main">
            <a:r>
              <a:t>Signature counts: results/router_trace_analysis/real_pilot/batches.csv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Ablation outputs: results/full_decode_real_pilot_cycle_v1/sieve-cycle-v1/summary.json and sieve-fixed-16-cycle-v1/summary.json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Comparison data: results/full_decode_real_pilot_cycle_v0/comparison.json and results/full_decode_real_pilot_cycle_v1/comparison.json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Contention data: results/full_decode_real_pilot_cycle_v1/contention.csv</a:t>
            </a:r>
          </a:p>
          <a:p xmlns:a="http://schemas.openxmlformats.org/drawingml/2006/main">
            <a:r>
              <a:t>Interpretation: docs/full_decode_real_pilot_cycle_v1_analysis.md, section Isolated/contended delta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Summary: docs/full_decode_real_pilot_cycle_v1_analysis.md</a:t>
            </a:r>
          </a:p>
          <a:p xmlns:a="http://schemas.openxmlformats.org/drawingml/2006/main">
            <a:r>
              <a:t>Limitations: AGENTS.md, 科研结论边界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1d321b6194a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04dabba9c14135" /><Relationship Type="http://schemas.openxmlformats.org/officeDocument/2006/relationships/slideLayout" Target="/ppt/slideLayouts/slideLayout1.xml" Id="R56f8ed5b347943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f8ed5b347943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59d06b5514a27" /><Relationship Type="http://schemas.openxmlformats.org/officeDocument/2006/relationships/notesSlide" Target="/ppt/notesSlides/notesSlide1.xml" Id="R1448977d02714a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0d48458fe4c94" /><Relationship Type="http://schemas.openxmlformats.org/officeDocument/2006/relationships/notesSlide" Target="/ppt/notesSlides/notesSlide2.xml" Id="R77fde19bfa134c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af433f3314901" /><Relationship Type="http://schemas.openxmlformats.org/officeDocument/2006/relationships/notesSlide" Target="/ppt/notesSlides/notesSlide3.xml" Id="R4cf2de8565254d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d720f2417412c" /><Relationship Type="http://schemas.openxmlformats.org/officeDocument/2006/relationships/notesSlide" Target="/ppt/notesSlides/notesSlide4.xml" Id="Ra85cb5d7d71c49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28cfd409245a4" /><Relationship Type="http://schemas.openxmlformats.org/officeDocument/2006/relationships/notesSlide" Target="/ppt/notesSlides/notesSlide5.xml" Id="R056e07a55fcf4c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e826e277c4c5a" /><Relationship Type="http://schemas.openxmlformats.org/officeDocument/2006/relationships/notesSlide" Target="/ppt/notesSlides/notesSlide6.xml" Id="Rab7a5a2f9a304f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925b9c85940b9" /><Relationship Type="http://schemas.openxmlformats.org/officeDocument/2006/relationships/chart" Target="/ppt/slides/charts/chart1.xml" Id="Rc0da3dbcffdf4d58" /><Relationship Type="http://schemas.openxmlformats.org/officeDocument/2006/relationships/notesSlide" Target="/ppt/notesSlides/notesSlide7.xml" Id="R0c463a6e64af43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76631d03240b5" /><Relationship Type="http://schemas.openxmlformats.org/officeDocument/2006/relationships/chart" Target="/ppt/slides/charts/chart2.xml" Id="Rd55aa985101f4238" /><Relationship Type="http://schemas.openxmlformats.org/officeDocument/2006/relationships/notesSlide" Target="/ppt/notesSlides/notesSlide8.xml" Id="R61c61d985b9243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388b96a324a06" /><Relationship Type="http://schemas.openxmlformats.org/officeDocument/2006/relationships/chart" Target="/ppt/slides/charts/chart3.xml" Id="Rb898dbb0d62d4950" /><Relationship Type="http://schemas.openxmlformats.org/officeDocument/2006/relationships/notesSlide" Target="/ppt/notesSlides/notesSlide9.xml" Id="R1ccb956268bf4c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22ecd06cf4b44" /><Relationship Type="http://schemas.openxmlformats.org/officeDocument/2006/relationships/chart" Target="/ppt/slides/charts/chart4.xml" Id="R1257a37e5ae642a2" /><Relationship Type="http://schemas.openxmlformats.org/officeDocument/2006/relationships/notesSlide" Target="/ppt/notesSlides/notesSlide10.xml" Id="R31869b60a26441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4198d81c548fa" /><Relationship Type="http://schemas.openxmlformats.org/officeDocument/2006/relationships/chart" Target="/ppt/slides/charts/chart5.xml" Id="R71f9788379b6437e" /><Relationship Type="http://schemas.openxmlformats.org/officeDocument/2006/relationships/notesSlide" Target="/ppt/notesSlides/notesSlide11.xml" Id="Ra854ba6f7c6a40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154cf4b224240" /><Relationship Type="http://schemas.openxmlformats.org/officeDocument/2006/relationships/notesSlide" Target="/ppt/notesSlides/notesSlide12.xml" Id="R498a022e5902411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Latency (ms)</c:v>
          </c:tx>
          <c:spPr>
            <a:solidFill xmlns:a="http://schemas.openxmlformats.org/drawingml/2006/main">
              <a:srgbClr val="FF6B35"/>
            </a:solidFill>
          </c:spPr>
          <c:cat>
            <c:strLit>
              <c:ptCount val="7"/>
              <c:pt idx="0">
                <c:v>sieve-cycle-v1</c:v>
              </c:pt>
              <c:pt idx="1">
                <c:v>fixed-16</c:v>
              </c:pt>
              <c:pt idx="2">
                <c:v>pimoe</c:v>
              </c:pt>
              <c:pt idx="3">
                <c:v>sieve</c:v>
              </c:pt>
              <c:pt idx="4">
                <c:v>allexp</c:v>
              </c:pt>
              <c:pt idx="5">
                <c:v>gpu-only</c:v>
              </c:pt>
              <c:pt idx="6">
                <c:v>noexp</c:v>
              </c:pt>
            </c:strLit>
          </c:cat>
          <c:val>
            <c:numLit>
              <c:formatCode>General</c:formatCode>
              <c:ptCount val="7"/>
              <c:pt idx="0">
                <c:v>30.551096</c:v>
              </c:pt>
              <c:pt idx="1">
                <c:v>34.003663</c:v>
              </c:pt>
              <c:pt idx="2">
                <c:v>35.457817</c:v>
              </c:pt>
              <c:pt idx="3">
                <c:v>37.673216</c:v>
              </c:pt>
              <c:pt idx="4">
                <c:v>44.893344</c:v>
              </c:pt>
              <c:pt idx="5">
                <c:v>49.714591</c:v>
              </c:pt>
              <c:pt idx="6">
                <c:v>50.254423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B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End-to-end latency (ms)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18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F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A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Layer-batches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10"/>
              <c:pt idx="0">
                <c:v>7</c:v>
              </c:pt>
              <c:pt idx="1">
                <c:v>8</c:v>
              </c:pt>
              <c:pt idx="2">
                <c:v>9</c:v>
              </c:pt>
              <c:pt idx="3">
                <c:v>10</c:v>
              </c:pt>
              <c:pt idx="4">
                <c:v>11</c:v>
              </c:pt>
              <c:pt idx="5">
                <c:v>12</c:v>
              </c:pt>
              <c:pt idx="6">
                <c:v>13</c:v>
              </c:pt>
              <c:pt idx="7">
                <c:v>14</c:v>
              </c:pt>
              <c:pt idx="8">
                <c:v>15</c:v>
              </c:pt>
              <c:pt idx="9">
                <c:v>16</c:v>
              </c:pt>
            </c:numLit>
          </c:cat>
          <c:val>
            <c:numLit>
              <c:formatCode>General</c:formatCode>
              <c:ptCount val="10"/>
              <c:pt idx="0">
                <c:v>1</c:v>
              </c:pt>
              <c:pt idx="1">
                <c:v>1</c:v>
              </c:pt>
              <c:pt idx="2">
                <c:v>10</c:v>
              </c:pt>
              <c:pt idx="3">
                <c:v>22</c:v>
              </c:pt>
              <c:pt idx="4">
                <c:v>33</c:v>
              </c:pt>
              <c:pt idx="5">
                <c:v>84</c:v>
              </c:pt>
              <c:pt idx="6">
                <c:v>108</c:v>
              </c:pt>
              <c:pt idx="7">
                <c:v>81</c:v>
              </c:pt>
              <c:pt idx="8">
                <c:v>36</c:v>
              </c:pt>
              <c:pt idx="9">
                <c:v>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Selected GPU hot-prefix (experts)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B1F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Layer-batches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182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A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Latency (ms)</c:v>
          </c:tx>
          <c:spPr>
            <a:solidFill xmlns:a="http://schemas.openxmlformats.org/drawingml/2006/main">
              <a:srgbClr val="FF6B35"/>
            </a:solidFill>
          </c:spPr>
          <c:cat>
            <c:strLit>
              <c:ptCount val="2"/>
              <c:pt idx="0">
                <c:v>dynamic</c:v>
              </c:pt>
              <c:pt idx="1">
                <c:v>fixed-16</c:v>
              </c:pt>
            </c:strLit>
          </c:cat>
          <c:val>
            <c:numLit>
              <c:formatCode>General</c:formatCode>
              <c:ptCount val="2"/>
              <c:pt idx="0">
                <c:v>30.551096</c:v>
              </c:pt>
              <c:pt idx="1">
                <c:v>34.003663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B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End-to-end latency (ms)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182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A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cycle-v0</c:v>
          </c:tx>
          <c:spPr>
            <a:solidFill xmlns:a="http://schemas.openxmlformats.org/drawingml/2006/main">
              <a:srgbClr val="A8B5C0"/>
            </a:solidFill>
          </c:spPr>
          <c:cat>
            <c:strLit>
              <c:ptCount val="5"/>
              <c:pt idx="0">
                <c:v>gpu-only</c:v>
              </c:pt>
              <c:pt idx="1">
                <c:v>noexp</c:v>
              </c:pt>
              <c:pt idx="2">
                <c:v>allexp</c:v>
              </c:pt>
              <c:pt idx="3">
                <c:v>pimoe</c:v>
              </c:pt>
              <c:pt idx="4">
                <c:v>sieve</c:v>
              </c:pt>
            </c:strLit>
          </c:cat>
          <c:val>
            <c:numLit>
              <c:formatCode>General</c:formatCode>
              <c:ptCount val="5"/>
              <c:pt idx="0">
                <c:v>24.455069</c:v>
              </c:pt>
              <c:pt idx="1">
                <c:v>24.994901</c:v>
              </c:pt>
              <c:pt idx="2">
                <c:v>39.286449</c:v>
              </c:pt>
              <c:pt idx="3">
                <c:v>31.240782</c:v>
              </c:pt>
              <c:pt idx="4">
                <c:v>24.680213</c:v>
              </c:pt>
            </c:numLit>
          </c:val>
        </c:ser>
        <c:ser>
          <c:idx val="1"/>
          <c:order val="1"/>
          <c:tx>
            <c:v>cycle-v1</c:v>
          </c:tx>
          <c:spPr>
            <a:solidFill xmlns:a="http://schemas.openxmlformats.org/drawingml/2006/main">
              <a:srgbClr val="FF6B35"/>
            </a:solidFill>
          </c:spPr>
          <c:cat>
            <c:strLit>
              <c:ptCount val="5"/>
              <c:pt idx="0">
                <c:v>gpu-only</c:v>
              </c:pt>
              <c:pt idx="1">
                <c:v>noexp</c:v>
              </c:pt>
              <c:pt idx="2">
                <c:v>allexp</c:v>
              </c:pt>
              <c:pt idx="3">
                <c:v>pimoe</c:v>
              </c:pt>
              <c:pt idx="4">
                <c:v>sieve</c:v>
              </c:pt>
            </c:strLit>
          </c:cat>
          <c:val>
            <c:numLit>
              <c:formatCode>General</c:formatCode>
              <c:ptCount val="5"/>
              <c:pt idx="0">
                <c:v>49.714591</c:v>
              </c:pt>
              <c:pt idx="1">
                <c:v>50.254423</c:v>
              </c:pt>
              <c:pt idx="2">
                <c:v>44.893344</c:v>
              </c:pt>
              <c:pt idx="3">
                <c:v>35.457817</c:v>
              </c:pt>
              <c:pt idx="4">
                <c:v>37.673216</c:v>
              </c:pt>
            </c:numLit>
          </c:val>
        </c:ser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End-to-end latency (ms)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18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F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2718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A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Delta (us)</c:v>
          </c:tx>
          <c:spPr>
            <a:solidFill xmlns:a="http://schemas.openxmlformats.org/drawingml/2006/main">
              <a:srgbClr val="19A7CE"/>
            </a:solidFill>
          </c:spPr>
          <c:invertIfNegative val="0"/>
          <c:cat>
            <c:strLit>
              <c:ptCount val="8"/>
              <c:pt idx="0">
                <c:v>pimoe GPU</c:v>
              </c:pt>
              <c:pt idx="1">
                <c:v>pimoe PIM</c:v>
              </c:pt>
              <c:pt idx="2">
                <c:v>sieve GPU</c:v>
              </c:pt>
              <c:pt idx="3">
                <c:v>sieve PIM</c:v>
              </c:pt>
              <c:pt idx="4">
                <c:v>dynamic GPU</c:v>
              </c:pt>
              <c:pt idx="5">
                <c:v>dynamic PIM</c:v>
              </c:pt>
              <c:pt idx="6">
                <c:v>fixed GPU</c:v>
              </c:pt>
              <c:pt idx="7">
                <c:v>fixed PIM</c:v>
              </c:pt>
            </c:strLit>
          </c:cat>
          <c:val>
            <c:numLit>
              <c:formatCode>General</c:formatCode>
              <c:ptCount val="8"/>
              <c:pt idx="0">
                <c:v>1.869192</c:v>
              </c:pt>
              <c:pt idx="1">
                <c:v>0.454896</c:v>
              </c:pt>
              <c:pt idx="2">
                <c:v>-107.612856</c:v>
              </c:pt>
              <c:pt idx="3">
                <c:v>1.13724</c:v>
              </c:pt>
              <c:pt idx="4">
                <c:v>-13.776048</c:v>
              </c:pt>
              <c:pt idx="5">
                <c:v>1.108224</c:v>
              </c:pt>
              <c:pt idx="6">
                <c:v>-52.062816</c:v>
              </c:pt>
              <c:pt idx="7">
                <c:v>1.190904</c:v>
              </c:pt>
            </c:numLit>
          </c:val>
        </c:ser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Cumulative isolated → contended delta (us)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18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B1F3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A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7B0B2-649B-48B2-9011-636AF858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9A7CE"/>
                </a:solidFill>
              </a:defRPr>
            </a:pPr>
            <a:r>
              <a:rPr sz="1050" b="1" i="0">
                <a:solidFill>
                  <a:srgbClr val="19A7CE"/>
                </a:solidFill>
              </a:rPr>
              <a:t>QWEN3 REAL ROUTER TRACE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682D6-FFB9-4376-A45A-8CD3C98D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19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B1F33"/>
                </a:solidFill>
              </a:defRPr>
            </a:pPr>
            <a:r>
              <a:rPr sz="3450" b="1" i="0">
                <a:solidFill>
                  <a:srgbClr val="0B1F33"/>
                </a:solidFill>
              </a:rPr>
              <a:t>动态 GPU / PIM 分界</a:t>
            </a:r>
          </a:p>
          <a:p xmlns:a="http://schemas.openxmlformats.org/drawingml/2006/main">
            <a:pPr algn="l">
              <a:defRPr sz="3450" b="1" i="0">
                <a:solidFill>
                  <a:srgbClr val="0B1F33"/>
                </a:solidFill>
              </a:defRPr>
            </a:pPr>
            <a:r>
              <a:rPr sz="3450" b="1" i="0">
                <a:solidFill>
                  <a:srgbClr val="0B1F33"/>
                </a:solidFill>
              </a:rPr>
              <a:t>在 cycle-v1 上的实验结果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E4988-2405-4BF2-BA8F-C50C142A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182"/>
                </a:solidFill>
              </a:defRPr>
            </a:pPr>
            <a:r>
              <a:rPr sz="1500" b="0" i="0">
                <a:solidFill>
                  <a:srgbClr val="627182"/>
                </a:solidFill>
              </a:rPr>
              <a:t>真实 Qwen3 Router Trace · 请求级 Ramulator · 7 策略回放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45AD-49C1-4380-9FE7-58E1653B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D6AB-EC68-46B3-A180-C865A914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9A7CE"/>
                </a:solidFill>
              </a:defRPr>
            </a:pPr>
            <a:r>
              <a:rPr sz="2175" b="1" i="0">
                <a:solidFill>
                  <a:srgbClr val="19A7CE"/>
                </a:solidFill>
              </a:rPr>
              <a:t>1030/1030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E82AB-D49F-45C2-882D-F4035230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182"/>
                </a:solidFill>
              </a:defRPr>
            </a:pPr>
            <a:r>
              <a:rPr sz="1050" b="0" i="0">
                <a:solidFill>
                  <a:srgbClr val="627182"/>
                </a:solidFill>
              </a:rPr>
              <a:t>精确 workload shapes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69BC5-1C84-4FD5-AC94-C2A84B69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5765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21953-92FB-4157-A61E-78316B12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00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6B35"/>
                </a:solidFill>
              </a:defRPr>
            </a:pPr>
            <a:r>
              <a:rPr sz="2175" b="1" i="0">
                <a:solidFill>
                  <a:srgbClr val="FF6B35"/>
                </a:solidFill>
              </a:rPr>
              <a:t>30.551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70111-FD20-46BA-A6AF-6678D20F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7677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182"/>
                </a:solidFill>
              </a:defRPr>
            </a:pPr>
            <a:r>
              <a:rPr sz="1050" b="0" i="0">
                <a:solidFill>
                  <a:srgbClr val="627182"/>
                </a:solidFill>
              </a:rPr>
              <a:t>最佳端到端时延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A507C-A50D-47ED-9477-10AE3DE6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5765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3B673-94EE-43A7-A2AB-C991A81C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00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3D8DFF"/>
                </a:solidFill>
              </a:defRPr>
            </a:pPr>
            <a:r>
              <a:rPr sz="2175" b="1" i="0">
                <a:solidFill>
                  <a:srgbClr val="3D8DFF"/>
                </a:solidFill>
              </a:rPr>
              <a:t>340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135A3-42BC-4587-B993-86CA8AC3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7677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182"/>
                </a:solidFill>
              </a:defRPr>
            </a:pPr>
            <a:r>
              <a:rPr sz="1050" b="0" i="0">
                <a:solidFill>
                  <a:srgbClr val="627182"/>
                </a:solidFill>
              </a:rPr>
              <a:t>unique load signatures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F736D-EAC1-4F4E-A419-3ED55B8D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5730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7F6FB"/>
          </a:solidFill>
          <a:ln xmlns:a="http://schemas.openxmlformats.org/drawingml/2006/main" w="9525">
            <a:solidFill>
              <a:srgbClr val="B8E6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4FEEC-C4D8-4E40-A9A3-CC56B3E8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57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</a:defRPr>
            </a:pPr>
            <a:r>
              <a:rPr sz="1800" b="1" i="0">
                <a:solidFill>
                  <a:srgbClr val="3D8DFF"/>
                </a:solidFill>
              </a:rPr>
              <a:t>GPU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51BFF-82B6-49C0-90EE-407C4BAF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</a:defRPr>
            </a:pPr>
            <a:r>
              <a:rPr sz="1125" b="0" i="0">
                <a:solidFill>
                  <a:srgbClr val="0B1F33"/>
                </a:solidFill>
              </a:rPr>
              <a:t>Expert READ + analytic compute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09A86-1A38-4CD1-B7A7-89C8A588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2857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D0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C4649-15B3-40E3-857B-6E1C50A5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57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6B35"/>
                </a:solidFill>
              </a:defRPr>
            </a:pPr>
            <a:r>
              <a:rPr sz="1800" b="1" i="0">
                <a:solidFill>
                  <a:srgbClr val="FF6B35"/>
                </a:solidFill>
              </a:rPr>
              <a:t>Local HBM-PIM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B6AF3-DCFD-4478-94FD-8167F739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B1F33"/>
                </a:solidFill>
              </a:defRPr>
            </a:pPr>
            <a:r>
              <a:rPr sz="1125" b="0" i="0">
                <a:solidFill>
                  <a:srgbClr val="0B1F33"/>
                </a:solidFill>
              </a:rPr>
              <a:t>gwrite → MAC → 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46AC5A-4654-4980-88FB-59BA848A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18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48344-DD22-4211-9B15-C8F81680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24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1F33"/>
                </a:solidFill>
              </a:defRPr>
            </a:pPr>
            <a:r>
              <a:rPr sz="1200" b="1" i="0">
                <a:solidFill>
                  <a:srgbClr val="0B1F33"/>
                </a:solidFill>
              </a:rPr>
              <a:t>1 GPU + 8 Local HBM-PIM Stacks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FAC51-7F1F-45CE-B40A-92348225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7182"/>
                </a:solidFill>
              </a:defRPr>
            </a:pPr>
            <a:r>
              <a:rPr sz="975" b="0" i="0">
                <a:solidFill>
                  <a:srgbClr val="627182"/>
                </a:solidFill>
              </a:rPr>
              <a:t>组会汇报 · 2026</a:t>
            </a:r>
          </a:p>
        </p:txBody>
      </p:sp>
    </p:spTree>
    <p:extLst>
      <p:ext uri="{BB962C8B-B14F-4D97-AF65-F5344CB8AC3E}">
        <p14:creationId xmlns:p14="http://schemas.microsoft.com/office/powerpoint/2010/main" val="20106557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E2A6E-6165-452E-91B3-DF2D3629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9A7CE"/>
                </a:solidFill>
              </a:defRPr>
            </a:pPr>
            <a:r>
              <a:rPr sz="825" b="1" i="0">
                <a:solidFill>
                  <a:srgbClr val="19A7CE"/>
                </a:solidFill>
              </a:rPr>
              <a:t>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F01BC-BB37-4DB8-A41C-1646B152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182"/>
                </a:solidFill>
              </a:defRPr>
            </a:pPr>
            <a:r>
              <a:rPr sz="825" b="1" i="0">
                <a:solidFill>
                  <a:srgbClr val="62718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672BD-B6D8-4C04-A584-57A39659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D2194E-D306-4833-BF39-66A01153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</a:defRPr>
            </a:pPr>
            <a:r>
              <a:rPr sz="2625" b="1" i="0">
                <a:solidFill>
                  <a:srgbClr val="0B1F33"/>
                </a:solidFill>
              </a:rPr>
              <a:t>问题不是把更多专家放到 PIM，而是让两条路径接近同步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79D66-944B-4715-A446-C36AF0F5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每个 layer-batch 都有不同的路由负载形状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EFACF-6414-4C6C-83D4-520973F8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F33"/>
                </a:solidFill>
              </a:defRPr>
            </a:pPr>
            <a:r>
              <a:rPr sz="1650" b="1" i="0">
                <a:solidFill>
                  <a:srgbClr val="0B1F33"/>
                </a:solidFill>
              </a:rPr>
              <a:t>MoE Decode 的关键瓶颈是两条 Expert path 的最大值：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A28D1-20D4-4673-A414-CDD25818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6B35"/>
                </a:solidFill>
              </a:defRPr>
            </a:pPr>
            <a:r>
              <a:rPr sz="1950" b="1" i="0">
                <a:solidFill>
                  <a:srgbClr val="FF6B35"/>
                </a:solidFill>
              </a:rPr>
              <a:t>layer latency ≈ scheduler + max(GPU path, PIM path)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F1485-335F-473E-9168-25B4BDBD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27182"/>
                </a:solidFill>
              </a:defRPr>
            </a:pPr>
            <a:r>
              <a:rPr sz="1500" b="0" i="0">
                <a:solidFill>
                  <a:srgbClr val="627182"/>
                </a:solidFill>
              </a:rPr>
              <a:t>固定分界容易在某些负载上偏向 GPU，</a:t>
            </a:r>
          </a:p>
          <a:p xmlns:a="http://schemas.openxmlformats.org/drawingml/2006/main">
            <a:pPr algn="l">
              <a:defRPr sz="1500" b="0" i="0">
                <a:solidFill>
                  <a:srgbClr val="627182"/>
                </a:solidFill>
              </a:defRPr>
            </a:pPr>
            <a:r>
              <a:rPr sz="1500" b="0" i="0">
                <a:solidFill>
                  <a:srgbClr val="627182"/>
                </a:solidFill>
              </a:rPr>
              <a:t>或让 PIM 成为关键路径。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DB84F-0E58-472E-95A9-96C79095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52600"/>
            <a:ext cx="371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7F6FB"/>
          </a:solidFill>
          <a:ln xmlns:a="http://schemas.openxmlformats.org/drawingml/2006/main" w="9525">
            <a:solidFill>
              <a:srgbClr val="B8E6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741EEB-ECC8-4350-974D-95E7BC64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716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</a:defRPr>
            </a:pPr>
            <a:r>
              <a:rPr sz="1800" b="1" i="0">
                <a:solidFill>
                  <a:srgbClr val="3D8DFF"/>
                </a:solidFill>
              </a:rPr>
              <a:t>GPU Expert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774C9-B192-4898-B0F9-1137212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F33"/>
                </a:solidFill>
              </a:defRPr>
            </a:pPr>
            <a:r>
              <a:rPr sz="1200" b="0" i="0">
                <a:solidFill>
                  <a:srgbClr val="0B1F33"/>
                </a:solidFill>
              </a:rPr>
              <a:t>Ramulator READ + analytic compute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8D82C-E492-4E64-B1A6-4E0566B6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76650"/>
            <a:ext cx="371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D0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5939E-5D88-46AE-951D-4EBC6EAE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95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6B35"/>
                </a:solidFill>
              </a:defRPr>
            </a:pPr>
            <a:r>
              <a:rPr sz="1800" b="1" i="0">
                <a:solidFill>
                  <a:srgbClr val="FF6B35"/>
                </a:solidFill>
              </a:rPr>
              <a:t>PIM Expert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F585B-03C4-4B6F-9294-97840E51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05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F33"/>
                </a:solidFill>
              </a:defRPr>
            </a:pPr>
            <a:r>
              <a:rPr sz="1200" b="0" i="0">
                <a:solidFill>
                  <a:srgbClr val="0B1F33"/>
                </a:solidFill>
              </a:rPr>
              <a:t>gwrite → MAC → result 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A98C98-4501-4577-9451-C080123A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765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1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B0CB8-71B8-48EE-87C2-5F31FE11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67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627182"/>
                </a:solidFill>
              </a:defRPr>
            </a:pPr>
            <a:r>
              <a:rPr sz="1125" b="1" i="0">
                <a:solidFill>
                  <a:srgbClr val="627182"/>
                </a:solidFill>
              </a:rPr>
              <a:t>scheduler + max(path)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E1D8C-7C9E-4B18-9AC5-756F9BA3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99441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A1537-BB65-4754-A2C4-CFBC480F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真实 Trace 的价值：把“动态分界是否有用”变成可测量的问题。</a:t>
            </a:r>
          </a:p>
        </p:txBody>
      </p:sp>
    </p:spTree>
    <p:extLst>
      <p:ext uri="{BB962C8B-B14F-4D97-AF65-F5344CB8AC3E}">
        <p14:creationId xmlns:p14="http://schemas.microsoft.com/office/powerpoint/2010/main" val="1632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B20C79-3741-4454-AC8A-72532F81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9A7CE"/>
                </a:solidFill>
              </a:defRPr>
            </a:pPr>
            <a:r>
              <a:rPr sz="825" b="1" i="0">
                <a:solidFill>
                  <a:srgbClr val="19A7CE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B4B92-E9D8-4CB8-BC00-BBC67D39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182"/>
                </a:solidFill>
              </a:defRPr>
            </a:pPr>
            <a:r>
              <a:rPr sz="825" b="1" i="0">
                <a:solidFill>
                  <a:srgbClr val="627182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5A28F-FAB3-480E-8B0C-D888149D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4D4267-DF79-430E-98BC-59293576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</a:defRPr>
            </a:pPr>
            <a:r>
              <a:rPr sz="2625" b="1" i="0">
                <a:solidFill>
                  <a:srgbClr val="0B1F33"/>
                </a:solidFill>
              </a:rPr>
              <a:t>当前实验是单 GPU + 8 个 Local HBM-PIM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6BEB2-073D-4C95-A4DA-EA5FA400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Shared CXL-PIM 和多 GPU 属于后续架构，不在本次结果中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83FE5-BBC8-4BE7-9ED7-CCE7730A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6383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0EE60-0FD8-4956-BF2B-C75C9B8D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0764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</a:defRPr>
            </a:pPr>
            <a:r>
              <a:rPr sz="1425" b="1" i="0">
                <a:solidFill>
                  <a:srgbClr val="0B1F33"/>
                </a:solidFill>
              </a:rPr>
              <a:t>Qwen3 Decode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6FA66-6E02-4626-8009-F2D35212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66900"/>
            <a:ext cx="16383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BD8A1-16CD-4038-8750-F9459B10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764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B1F33"/>
                </a:solidFill>
              </a:defRPr>
            </a:pPr>
            <a:r>
              <a:rPr sz="1425" b="1" i="0">
                <a:solidFill>
                  <a:srgbClr val="0B1F33"/>
                </a:solidFill>
              </a:rPr>
              <a:t>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26E83-82F7-4F46-B07F-09C283C3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20193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6DE"/>
          </a:solidFill>
          <a:ln xmlns:a="http://schemas.openxmlformats.org/drawingml/2006/main" w="9525">
            <a:solidFill>
              <a:srgbClr val="F4D8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DEC92-1930-484C-88F3-241BD162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764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2B84B"/>
                </a:solidFill>
              </a:defRPr>
            </a:pPr>
            <a:r>
              <a:rPr sz="1425" b="1" i="0">
                <a:solidFill>
                  <a:srgbClr val="F2B84B"/>
                </a:solidFill>
              </a:rPr>
              <a:t>Policy / Scheduler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FC440-8696-46D8-807E-30438943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193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1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56488-FC7C-4D88-BFF6-73E639FC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193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1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FF3F2-B670-4F87-A8EE-51FAFAA2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5280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7F6FB"/>
          </a:solidFill>
          <a:ln xmlns:a="http://schemas.openxmlformats.org/drawingml/2006/main" w="9525">
            <a:solidFill>
              <a:srgbClr val="B8E6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E1181-7A28-4CA3-A84B-8C2C2E52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718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</a:defRPr>
            </a:pPr>
            <a:r>
              <a:rPr sz="1950" b="1" i="0">
                <a:solidFill>
                  <a:srgbClr val="3D8DFF"/>
                </a:solidFill>
              </a:rPr>
              <a:t>GPU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F0CDF-B09F-4352-B751-A3084531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433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F33"/>
                </a:solidFill>
              </a:defRPr>
            </a:pPr>
            <a:r>
              <a:rPr sz="1275" b="0" i="0">
                <a:solidFill>
                  <a:srgbClr val="0B1F33"/>
                </a:solidFill>
              </a:rPr>
              <a:t>Expert READ</a:t>
            </a:r>
          </a:p>
          <a:p xmlns:a="http://schemas.openxmlformats.org/drawingml/2006/main">
            <a:pPr algn="l">
              <a:defRPr sz="1275" b="0" i="0">
                <a:solidFill>
                  <a:srgbClr val="0B1F33"/>
                </a:solidFill>
              </a:defRPr>
            </a:pPr>
            <a:r>
              <a:rPr sz="1275" b="0" i="0">
                <a:solidFill>
                  <a:srgbClr val="0B1F33"/>
                </a:solidFill>
              </a:rPr>
              <a:t>analytic compute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96583-827E-43BD-A98C-3E1946AF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D0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84EEE-9918-4F57-B5E4-B99D2B6E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71875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6B35"/>
                </a:solidFill>
              </a:defRPr>
            </a:pPr>
            <a:r>
              <a:rPr sz="1950" b="1" i="0">
                <a:solidFill>
                  <a:srgbClr val="FF6B35"/>
                </a:solidFill>
              </a:rPr>
              <a:t>Local HBM-PIM × 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C2A13-C1E9-4091-A590-FEB77EAD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2457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F33"/>
                </a:solidFill>
              </a:defRPr>
            </a:pPr>
            <a:r>
              <a:rPr sz="1275" b="0" i="0">
                <a:solidFill>
                  <a:srgbClr val="0B1F33"/>
                </a:solidFill>
              </a:rPr>
              <a:t>gwrite → MAC → read</a:t>
            </a:r>
          </a:p>
          <a:p xmlns:a="http://schemas.openxmlformats.org/drawingml/2006/main">
            <a:pPr algn="l">
              <a:defRPr sz="1275" b="0" i="0">
                <a:solidFill>
                  <a:srgbClr val="0B1F33"/>
                </a:solidFill>
              </a:defRPr>
            </a:pPr>
            <a:r>
              <a:rPr sz="1275" b="0" i="0">
                <a:solidFill>
                  <a:srgbClr val="0B1F33"/>
                </a:solidFill>
              </a:rPr>
              <a:t>request-level Ramulator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3FDD31-6612-4A94-92CB-C2B2BB4E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180975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11F57C-6C3F-4748-A13F-7524CD1F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180975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B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7854F-C841-4606-8506-6277722E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05400"/>
            <a:ext cx="2476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4F9C3-4E84-4D70-877E-B2BFA06D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86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Combine → next layer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CB160-4D62-4D84-B07B-D2193100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33900"/>
            <a:ext cx="762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18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90F39-6C29-46F4-945A-BA432FB7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33900"/>
            <a:ext cx="1905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18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6877E7-3679-45A8-9ADF-653F09A8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52800"/>
            <a:ext cx="167640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A8B5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DEDA3D-28E9-4BCB-930E-0D94EBDD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57600"/>
            <a:ext cx="1409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8B5C0"/>
                </a:solidFill>
              </a:defRPr>
            </a:pPr>
            <a:r>
              <a:rPr sz="1275" b="1" i="0">
                <a:solidFill>
                  <a:srgbClr val="A8B5C0"/>
                </a:solidFill>
              </a:rPr>
              <a:t>Shared CXL-PIM</a:t>
            </a:r>
          </a:p>
          <a:p xmlns:a="http://schemas.openxmlformats.org/drawingml/2006/main">
            <a:pPr algn="ctr">
              <a:defRPr sz="1275" b="1" i="0">
                <a:solidFill>
                  <a:srgbClr val="A8B5C0"/>
                </a:solidFill>
              </a:defRPr>
            </a:pPr>
            <a:r>
              <a:rPr sz="1275" b="1" i="0">
                <a:solidFill>
                  <a:srgbClr val="A8B5C0"/>
                </a:solidFill>
              </a:rPr>
              <a:t>OUT OF SCOPE</a:t>
            </a:r>
          </a:p>
        </p:txBody>
      </p:sp>
    </p:spTree>
    <p:extLst>
      <p:ext uri="{BB962C8B-B14F-4D97-AF65-F5344CB8AC3E}">
        <p14:creationId xmlns:p14="http://schemas.microsoft.com/office/powerpoint/2010/main" val="19517696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D1A348-ACF6-4EA6-B3BB-9B77921A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9A7CE"/>
                </a:solidFill>
              </a:defRPr>
            </a:pPr>
            <a:r>
              <a:rPr sz="825" b="1" i="0">
                <a:solidFill>
                  <a:srgbClr val="19A7CE"/>
                </a:solidFill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1BD99-47E9-4CAD-9395-02BE9E71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182"/>
                </a:solidFill>
              </a:defRPr>
            </a:pPr>
            <a:r>
              <a:rPr sz="825" b="1" i="0">
                <a:solidFill>
                  <a:srgbClr val="627182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94F82-A273-445C-863A-7ECDA15C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5CC9EA-5A68-421D-8792-455D0447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</a:defRPr>
            </a:pPr>
            <a:r>
              <a:rPr sz="2625" b="1" i="0">
                <a:solidFill>
                  <a:srgbClr val="0B1F33"/>
                </a:solidFill>
              </a:rPr>
              <a:t>从真实路由到端到端结果，实验链路已经闭环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366B6-ECE7-404E-A9DB-A626A8F0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每一步都保留输入身份和可复现证据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80EBE-4E46-4736-86FF-61CAC073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71450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71282-CB4C-44EA-AA4A-B99A2F63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</a:defRPr>
            </a:pPr>
            <a:r>
              <a:rPr sz="1650" b="1" i="0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5C622-3660-4C57-AACA-2563E6E1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3367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Router 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DECDB-42C1-4731-BFA8-FA02CA47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384 layer-batches</a:t>
            </a:r>
          </a:p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3072 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DF1B8-13BD-4D07-8C29-18DBF96C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71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18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6702B1-D62B-4877-97A0-7F1AF10C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33600"/>
            <a:ext cx="171450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72A40-C52E-4DFF-B3BF-AE59E44C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9A7CE"/>
                </a:solidFill>
              </a:defRPr>
            </a:pPr>
            <a:r>
              <a:rPr sz="1650" b="1" i="0">
                <a:solidFill>
                  <a:srgbClr val="19A7CE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0A09F-B5BA-4BA8-AC5F-2819F42F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3367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Manifest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E4E56-53E4-4CCC-B419-AAFAB453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52775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prompt / trace</a:t>
            </a:r>
          </a:p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SHA-256 binding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4F0A2-093B-4DE8-B8BD-CA54D95F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71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1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D3DE7-681A-44F9-B54D-7D7E9BC5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171450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32A8B-4550-4F20-A0DB-EE57229F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6B35"/>
                </a:solidFill>
              </a:defRPr>
            </a:pPr>
            <a:r>
              <a:rPr sz="1650" b="1" i="0">
                <a:solidFill>
                  <a:srgbClr val="FF6B35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F0C06-61F5-442D-A9AD-735559B1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3367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Workload 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3E5AE-A365-40E1-856E-E00733E9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1030/1030 exact</a:t>
            </a:r>
          </a:p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interpolation =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7888B-6D4F-48CA-B40B-5F1CDED0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71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18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5BC8EB-0473-4D67-A73F-75DB90A3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33600"/>
            <a:ext cx="171450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861CDD-A2E0-4914-AB69-AD6D34D6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B84B"/>
                </a:solidFill>
              </a:defRPr>
            </a:pPr>
            <a:r>
              <a:rPr sz="1650" b="1" i="0">
                <a:solidFill>
                  <a:srgbClr val="F2B84B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03204F-17CB-4B6A-89FF-2A8A7A9A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3367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Schema-v3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73627D-4CC1-4958-AA1D-6FE6B2A2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52775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14,527 placement</a:t>
            </a:r>
          </a:p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timing entries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111AB-3A52-407D-8F26-35D2769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71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718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5362EB-E46A-4D4B-AA1C-0FEEAD26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171450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AE552-FF71-4938-8C5A-FA5CA04B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24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4A77A"/>
                </a:solidFill>
              </a:defRPr>
            </a:pPr>
            <a:r>
              <a:rPr sz="1650" b="1" i="0">
                <a:solidFill>
                  <a:srgbClr val="24A77A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8AF91-E36A-4919-B54F-F988B5E8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3367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Replay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34F033-55C2-4CB2-997F-9BFC484F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52775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7 policies × 384</a:t>
            </a:r>
          </a:p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layer-batches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CF424-0A4C-4E95-B116-CE347380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03251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F07D44-BA5D-4B58-9AE5-8A08D8C6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967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真实路由只提供 placement decision；时延数字全部来自解析模型 + Ramulator。</a:t>
            </a:r>
          </a:p>
        </p:txBody>
      </p:sp>
    </p:spTree>
    <p:extLst>
      <p:ext uri="{BB962C8B-B14F-4D97-AF65-F5344CB8AC3E}">
        <p14:creationId xmlns:p14="http://schemas.microsoft.com/office/powerpoint/2010/main" val="20150057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145065-B246-40B7-85B4-247AF576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9A7CE"/>
                </a:solidFill>
              </a:defRPr>
            </a:pPr>
            <a:r>
              <a:rPr sz="825" b="1" i="0">
                <a:solidFill>
                  <a:srgbClr val="19A7CE"/>
                </a:solidFill>
              </a:rPr>
              <a:t>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6FCED-61E4-45BD-A1D5-2A52CF5E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182"/>
                </a:solidFill>
              </a:defRPr>
            </a:pPr>
            <a:r>
              <a:rPr sz="825" b="1" i="0">
                <a:solidFill>
                  <a:srgbClr val="627182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C7874-83D9-4F57-BF95-641D9B1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CEC208-E869-496C-B7CA-A47DAD11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</a:defRPr>
            </a:pPr>
            <a:r>
              <a:rPr sz="2625" b="1" i="0">
                <a:solidFill>
                  <a:srgbClr val="0B1F33"/>
                </a:solidFill>
              </a:rPr>
              <a:t>cycle-v1 同时改变了访存后端和竞争模型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319E6-D2A8-40A1-9967-B02317DD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因此 v0 → v1 的差值不能全部归因于 contention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6ECD1-2656-4637-962D-2EBB591A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627182"/>
                </a:solidFill>
              </a:defRPr>
            </a:pPr>
            <a:r>
              <a:rPr sz="1950" b="1" i="0">
                <a:solidFill>
                  <a:srgbClr val="627182"/>
                </a:solidFill>
              </a:rPr>
              <a:t>cycle-v0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49459-5948-457F-BA56-F2691121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90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6B35"/>
                </a:solidFill>
              </a:defRPr>
            </a:pPr>
            <a:r>
              <a:rPr sz="1950" b="1" i="0">
                <a:solidFill>
                  <a:srgbClr val="FF6B35"/>
                </a:solidFill>
              </a:rPr>
              <a:t>cycle-v1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D2E27-2D06-490D-A09C-3671FBC9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B1F33"/>
                </a:solidFill>
              </a:defRPr>
            </a:pPr>
            <a:r>
              <a:rPr sz="1950" b="1" i="0">
                <a:solidFill>
                  <a:srgbClr val="0B1F33"/>
                </a:solidFill>
              </a:rPr>
              <a:t>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AF284-91A7-47F8-B647-1745FD58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8765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30E20-6EB1-426D-8778-D17FE581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</a:defRPr>
            </a:pPr>
            <a:r>
              <a:rPr sz="1200" b="1" i="0">
                <a:solidFill>
                  <a:srgbClr val="0B1F33"/>
                </a:solidFill>
              </a:rPr>
              <a:t>GPU Expert 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953E4-BB63-4555-9624-DCCF9FCC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81250"/>
            <a:ext cx="28765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055FC-4CB1-4274-9780-A3D839DA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146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解析估计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634D2-3FF0-44DF-9C9E-4E4C5C7B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81250"/>
            <a:ext cx="28765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D0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FE8F3-4220-4562-9346-77E6E088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146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FF6B35"/>
                </a:solidFill>
              </a:defRPr>
            </a:pPr>
            <a:r>
              <a:rPr sz="1200" b="0" i="0">
                <a:solidFill>
                  <a:srgbClr val="FF6B35"/>
                </a:solidFill>
              </a:rPr>
              <a:t>请求级 Ramulator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60BC1-CC78-4FD2-B61A-D20A9252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669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1F33"/>
                </a:solidFill>
              </a:defRPr>
            </a:pPr>
            <a:r>
              <a:rPr sz="1125" b="1" i="0">
                <a:solidFill>
                  <a:srgbClr val="0B1F33"/>
                </a:solidFill>
              </a:rPr>
              <a:t>GPU-only 也会变化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EB7830-7564-4E83-A270-13993224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8765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64507-21D8-41B2-8D31-1D1DF929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</a:defRPr>
            </a:pPr>
            <a:r>
              <a:rPr sz="1200" b="1" i="0">
                <a:solidFill>
                  <a:srgbClr val="0B1F33"/>
                </a:solidFill>
              </a:rPr>
              <a:t>PIM 命令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80C8D3-3BD4-474B-BD78-9F977DF8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28765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28D61-5A35-478D-BC55-C0501403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813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独立 timing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C3F79-A847-45AC-8903-640E5B82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48000"/>
            <a:ext cx="28765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D0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F351A-9CB9-4D8B-9DA8-3DDD4DFF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813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FF6B35"/>
                </a:solidFill>
              </a:defRPr>
            </a:pPr>
            <a:r>
              <a:rPr sz="1200" b="0" i="0">
                <a:solidFill>
                  <a:srgbClr val="FF6B35"/>
                </a:solidFill>
              </a:rPr>
              <a:t>混合请求流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DB4D75-238F-4432-84E6-4C5D7502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337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1F33"/>
                </a:solidFill>
              </a:defRPr>
            </a:pPr>
            <a:r>
              <a:rPr sz="1125" b="1" i="0">
                <a:solidFill>
                  <a:srgbClr val="0B1F33"/>
                </a:solidFill>
              </a:rPr>
              <a:t>PIM path 更完整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0F26A-ED5B-43A2-9EFC-0A70C763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28765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8C66D-B69F-48FD-8E41-FE474CEE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</a:defRPr>
            </a:pPr>
            <a:r>
              <a:rPr sz="1200" b="1" i="0">
                <a:solidFill>
                  <a:srgbClr val="0B1F33"/>
                </a:solidFill>
              </a:rPr>
              <a:t>请求竞争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3D41D5-CB29-42F1-8051-82D06194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14750"/>
            <a:ext cx="28765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A4D55-5AC0-46C8-A814-93C09515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481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不建模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F078D-85AB-48CD-8086-DCECB67F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28765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D0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FEF979-B426-4C47-95B8-1FAE7ABD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481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FF6B35"/>
                </a:solidFill>
              </a:defRPr>
            </a:pPr>
            <a:r>
              <a:rPr sz="1200" b="0" i="0">
                <a:solidFill>
                  <a:srgbClr val="FF6B35"/>
                </a:solidFill>
              </a:rPr>
              <a:t>双 Row Buffer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17A9F3-3DDC-479A-9F81-2ADEA272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004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1F33"/>
                </a:solidFill>
              </a:defRPr>
            </a:pPr>
            <a:r>
              <a:rPr sz="1125" b="1" i="0">
                <a:solidFill>
                  <a:srgbClr val="0B1F33"/>
                </a:solidFill>
              </a:rPr>
              <a:t>显式 delta 可测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78472A-B791-48CF-A6B0-78B12E32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8765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D6B20C-36FE-4C7D-9FAD-078EB7FD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</a:defRPr>
            </a:pPr>
            <a:r>
              <a:rPr sz="1200" b="1" i="0">
                <a:solidFill>
                  <a:srgbClr val="0B1F33"/>
                </a:solidFill>
              </a:rPr>
              <a:t>放置搜索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A32C03-D5DD-43A0-BED6-AB0D58AF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81500"/>
            <a:ext cx="28765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0F5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48846E-75C3-4A12-9DD4-DED8D934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148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解析目标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6E3564-D834-4212-B477-16DC9DB5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81500"/>
            <a:ext cx="28765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D0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3802C0-112E-4E85-A940-EA2CE558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1485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FF6B35"/>
                </a:solidFill>
              </a:defRPr>
            </a:pPr>
            <a:r>
              <a:rPr sz="1200" b="0" i="0">
                <a:solidFill>
                  <a:srgbClr val="FF6B35"/>
                </a:solidFill>
              </a:rPr>
              <a:t>精确候选表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F4C83D-EE6F-4C57-A927-426733F6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672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1F33"/>
                </a:solidFill>
              </a:defRPr>
            </a:pPr>
            <a:r>
              <a:rPr sz="1125" b="1" i="0">
                <a:solidFill>
                  <a:srgbClr val="0B1F33"/>
                </a:solidFill>
              </a:rPr>
              <a:t>动态分界可重算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CFD9F5-3213-46FE-A597-22A85771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990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90DC03-8DE2-4863-87FC-DFE3ACD3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937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关键控制：GPU 算术、Router、Scheduler、GPU Attention 仍是解析模型。</a:t>
            </a:r>
          </a:p>
        </p:txBody>
      </p:sp>
    </p:spTree>
    <p:extLst>
      <p:ext uri="{BB962C8B-B14F-4D97-AF65-F5344CB8AC3E}">
        <p14:creationId xmlns:p14="http://schemas.microsoft.com/office/powerpoint/2010/main" val="1982232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94EDA7-7222-4FCD-892B-6455BA2D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9A7CE"/>
                </a:solidFill>
              </a:defRPr>
            </a:pPr>
            <a:r>
              <a:rPr sz="825" b="1" i="0">
                <a:solidFill>
                  <a:srgbClr val="19A7CE"/>
                </a:solidFill>
              </a:rPr>
              <a:t>STRATEGIES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4ECB1-BA95-47E4-B67C-67CF9B35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182"/>
                </a:solidFill>
              </a:defRPr>
            </a:pPr>
            <a:r>
              <a:rPr sz="825" b="1" i="0">
                <a:solidFill>
                  <a:srgbClr val="627182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FA990-3FD1-44FB-B63F-81EBABFD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EFDC30-D530-4BF3-AC78-FDA012B7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</a:defRPr>
            </a:pPr>
            <a:r>
              <a:rPr sz="2625" b="1" i="0">
                <a:solidFill>
                  <a:srgbClr val="0B1F33"/>
                </a:solidFill>
              </a:rPr>
              <a:t>七种策略覆盖从纯 GPU 到精确动态搜索的完整对照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B51AF-DE1A-4CEB-AF54-8D4BABCB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专家数指 MoE Expert 执行位置；Attention 位置单独列出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D29F0-88DB-4CC7-9417-A1D521FD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81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182"/>
                </a:solidFill>
              </a:defRPr>
            </a:pPr>
            <a:r>
              <a:rPr sz="1050" b="1" i="0">
                <a:solidFill>
                  <a:srgbClr val="627182"/>
                </a:solidFill>
              </a:rPr>
              <a:t>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7BABB-AEE5-4A7F-99CC-2211A6BE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81150"/>
            <a:ext cx="561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7182"/>
                </a:solidFill>
              </a:defRPr>
            </a:pPr>
            <a:r>
              <a:rPr sz="1050" b="1" i="0">
                <a:solidFill>
                  <a:srgbClr val="627182"/>
                </a:solidFill>
              </a:rPr>
              <a:t>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53ED1-F9CC-4321-8096-82317BB7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81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27182"/>
                </a:solidFill>
              </a:defRPr>
            </a:pPr>
            <a:r>
              <a:rPr sz="1050" b="1" i="0">
                <a:solidFill>
                  <a:srgbClr val="627182"/>
                </a:solidFill>
              </a:rPr>
              <a:t>cycle-v1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9670F-3A3B-48F1-A426-A3EBF064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0668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6DECD-7ED5-4110-A152-6F51F3A5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762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8B5C0"/>
          </a:solidFill>
          <a:ln xmlns:a="http://schemas.openxmlformats.org/drawingml/2006/main" w="9525">
            <a:solidFill>
              <a:srgbClr val="A8B5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3F38D-2484-421B-BB7D-ED3C8F49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</a:defRPr>
            </a:pPr>
            <a:r>
              <a:rPr sz="1200" b="1" i="0">
                <a:solidFill>
                  <a:srgbClr val="0B1F33"/>
                </a:solidFill>
              </a:rPr>
              <a:t>gpu-only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76B11-8F3B-48CB-B784-F8742540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526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Attention GPU · 所有 Expert GPU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BA5D9-1B0E-44DF-9529-3E7CF55C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8B5C0"/>
                </a:solidFill>
              </a:defRPr>
            </a:pPr>
            <a:r>
              <a:rPr sz="1200" b="1" i="0">
                <a:solidFill>
                  <a:srgbClr val="A8B5C0"/>
                </a:solidFill>
              </a:rPr>
              <a:t>49.715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57A3A7-DDCE-4786-B32B-3013EE32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668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C9130-1B38-483E-A8CD-CC33C62A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762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A8B5C0"/>
          </a:solidFill>
          <a:ln xmlns:a="http://schemas.openxmlformats.org/drawingml/2006/main" w="9525">
            <a:solidFill>
              <a:srgbClr val="A8B5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FBD4-3D65-4097-B775-08434618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</a:defRPr>
            </a:pPr>
            <a:r>
              <a:rPr sz="1200" b="1" i="0">
                <a:solidFill>
                  <a:srgbClr val="0B1F33"/>
                </a:solidFill>
              </a:rPr>
              <a:t>noexp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7AE68-9D10-4EC6-883D-0B59BB89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669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Attention PIM · 所有 Expert GPU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19CEB-AC98-4209-A4D4-06562262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6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A8B5C0"/>
                </a:solidFill>
              </a:defRPr>
            </a:pPr>
            <a:r>
              <a:rPr sz="1200" b="1" i="0">
                <a:solidFill>
                  <a:srgbClr val="A8B5C0"/>
                </a:solidFill>
              </a:rPr>
              <a:t>50.254 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CCEDF-668E-4E99-B77D-7B1F32F1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0668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BA0A54-AEB9-4559-A45D-D50801EC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762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9A7CE"/>
          </a:solidFill>
          <a:ln xmlns:a="http://schemas.openxmlformats.org/drawingml/2006/main" w="9525">
            <a:solidFill>
              <a:srgbClr val="19A7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D802B-9115-4E01-A842-38A974B5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</a:defRPr>
            </a:pPr>
            <a:r>
              <a:rPr sz="1200" b="1" i="0">
                <a:solidFill>
                  <a:srgbClr val="0B1F33"/>
                </a:solidFill>
              </a:rPr>
              <a:t>allexp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D551E-B96B-4B46-8903-007F653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813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Attention PIM · 所有 Expert PIM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D6DC12-3BA0-488E-87A0-52AD2193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81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9A7CE"/>
                </a:solidFill>
              </a:defRPr>
            </a:pPr>
            <a:r>
              <a:rPr sz="1200" b="1" i="0">
                <a:solidFill>
                  <a:srgbClr val="19A7CE"/>
                </a:solidFill>
              </a:rPr>
              <a:t>44.893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A5849-F90F-47C4-A352-B8B4DE1B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668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94A734-0804-46D4-AD11-6231D581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762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B84B"/>
          </a:solidFill>
          <a:ln xmlns:a="http://schemas.openxmlformats.org/drawingml/2006/main" w="9525">
            <a:solidFill>
              <a:srgbClr val="F2B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344B2-7032-40FA-9607-99C02741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95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</a:defRPr>
            </a:pPr>
            <a:r>
              <a:rPr sz="1200" b="1" i="0">
                <a:solidFill>
                  <a:srgbClr val="0B1F33"/>
                </a:solidFill>
              </a:rPr>
              <a:t>pimoe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3C1A8E-B2E8-4676-BD0A-F20E7FFE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token ≥ 4 → GPU，否则 PIM（占位）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A2BB9E-03D3-4A2B-B566-7561684C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95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2B84B"/>
                </a:solidFill>
              </a:defRPr>
            </a:pPr>
            <a:r>
              <a:rPr sz="1200" b="1" i="0">
                <a:solidFill>
                  <a:srgbClr val="F2B84B"/>
                </a:solidFill>
              </a:rPr>
              <a:t>35.458 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1CC9A6-FB30-43EE-88A0-2696D30B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668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1DEB19-7FAF-460E-9C4B-F2A878F5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C58E91-DDB4-440A-96F2-AD1FC6A0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00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</a:defRPr>
            </a:pPr>
            <a:r>
              <a:rPr sz="1200" b="1" i="0">
                <a:solidFill>
                  <a:srgbClr val="0B1F33"/>
                </a:solidFill>
              </a:rPr>
              <a:t>sieve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464610-5360-4C55-846F-A61BF84B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00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旧版热点专家贪心迁移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753742-9212-496A-AAB8-7D5D2B94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100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3D8DFF"/>
                </a:solidFill>
              </a:defRPr>
            </a:pPr>
            <a:r>
              <a:rPr sz="1200" b="1" i="0">
                <a:solidFill>
                  <a:srgbClr val="3D8DFF"/>
                </a:solidFill>
              </a:rPr>
              <a:t>37.673 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B5F720-20A6-4427-BDB3-FA2E3D35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0668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D698DD-C59B-4AC7-9CF7-F7FE6828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762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A84936-2344-4153-9980-D8B7908E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24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</a:defRPr>
            </a:pPr>
            <a:r>
              <a:rPr sz="1200" b="1" i="0">
                <a:solidFill>
                  <a:srgbClr val="0B1F33"/>
                </a:solidFill>
              </a:rPr>
              <a:t>sieve-cycle-v1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B3289B-A6BA-495E-81BA-709714EA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243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精确 contention table 枚举 hot-prefix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47C110-CA1F-4656-AE0B-4A5A484F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24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6B35"/>
                </a:solidFill>
              </a:defRPr>
            </a:pPr>
            <a:r>
              <a:rPr sz="1200" b="1" i="0">
                <a:solidFill>
                  <a:srgbClr val="FF6B35"/>
                </a:solidFill>
              </a:rPr>
              <a:t>30.551 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851A45-4198-44AE-9BC0-234881A0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106680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003FFF-1A7B-4BAC-9745-5CA0C851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7620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4A77A"/>
          </a:solidFill>
          <a:ln xmlns:a="http://schemas.openxmlformats.org/drawingml/2006/main" w="9525">
            <a:solidFill>
              <a:srgbClr val="24A77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400346-076F-461B-8335-0B63FA29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38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F33"/>
                </a:solidFill>
              </a:defRPr>
            </a:pPr>
            <a:r>
              <a:rPr sz="1200" b="1" i="0">
                <a:solidFill>
                  <a:srgbClr val="0B1F33"/>
                </a:solidFill>
              </a:rPr>
              <a:t>fixed-16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A54C25-5320-4A80-BAEB-60518AD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387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固定最热 16 个到 GPU（消融）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D891E1-E51C-4074-9DDC-475BE400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38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4A77A"/>
                </a:solidFill>
              </a:defRPr>
            </a:pPr>
            <a:r>
              <a:rPr sz="1200" b="1" i="0">
                <a:solidFill>
                  <a:srgbClr val="24A77A"/>
                </a:solidFill>
              </a:rPr>
              <a:t>34.004 ms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CE5C72-FF47-4520-9B86-17009688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627182"/>
                </a:solidFill>
              </a:defRPr>
            </a:pPr>
            <a:r>
              <a:rPr sz="1050" b="0" i="1">
                <a:solidFill>
                  <a:srgbClr val="627182"/>
                </a:solidFill>
              </a:rPr>
              <a:t>* pimoe = static token-threshold placeholder; not a PIMoE paper reproduction.</a:t>
            </a:r>
          </a:p>
        </p:txBody>
      </p:sp>
    </p:spTree>
    <p:extLst>
      <p:ext uri="{BB962C8B-B14F-4D97-AF65-F5344CB8AC3E}">
        <p14:creationId xmlns:p14="http://schemas.microsoft.com/office/powerpoint/2010/main" val="1224035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0BB3E-10A1-4F8F-BB36-7BFC50EC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9A7CE"/>
                </a:solidFill>
              </a:defRPr>
            </a:pPr>
            <a:r>
              <a:rPr sz="825" b="1" i="0">
                <a:solidFill>
                  <a:srgbClr val="19A7CE"/>
                </a:solidFill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5BBBE-67A8-4E44-B469-8AFF25F6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182"/>
                </a:solidFill>
              </a:defRPr>
            </a:pPr>
            <a:r>
              <a:rPr sz="825" b="1" i="0">
                <a:solidFill>
                  <a:srgbClr val="627182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882A4-D4BD-4B9F-9488-592A9F45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D6E44B-CBE6-46E0-BD8D-93E830ED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</a:defRPr>
            </a:pPr>
            <a:r>
              <a:rPr sz="2625" b="1" i="0">
                <a:solidFill>
                  <a:srgbClr val="0B1F33"/>
                </a:solidFill>
              </a:rPr>
              <a:t>精确 cycle-v1 时序下，动态搜索达到最低端到端时延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9291C-6B86-485E-ACB9-1E1FB212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384 个 layer-batch · 8 个 Decode step · 单位：ms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857250" y="1619250"/>
          <a:ext xmlns:a="http://schemas.openxmlformats.org/drawingml/2006/main" cx="6858000" cy="3848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da3dbcffdf4d5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6B1F9-761B-4078-96DF-8E5FF3B1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F29E2-C220-4763-A805-556768DE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2410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FFFFFF"/>
                </a:solidFill>
              </a:defRPr>
            </a:pPr>
            <a:r>
              <a:rPr sz="2625" b="1" i="0">
                <a:solidFill>
                  <a:srgbClr val="FFFFFF"/>
                </a:solidFill>
              </a:rPr>
              <a:t>30.551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2A23D-E7EF-496C-81C7-C6360409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9A7CE"/>
                </a:solidFill>
              </a:defRPr>
            </a:pPr>
            <a:r>
              <a:rPr sz="1500" b="1" i="0">
                <a:solidFill>
                  <a:srgbClr val="19A7CE"/>
                </a:solidFill>
              </a:rPr>
              <a:t>sieve-cycle-v1</a:t>
            </a:r>
          </a:p>
          <a:p xmlns:a="http://schemas.openxmlformats.org/drawingml/2006/main">
            <a:pPr algn="ctr">
              <a:defRPr sz="1500" b="1" i="0">
                <a:solidFill>
                  <a:srgbClr val="19A7CE"/>
                </a:solidFill>
              </a:defRPr>
            </a:pPr>
            <a:r>
              <a:rPr sz="1500" b="1" i="0">
                <a:solidFill>
                  <a:srgbClr val="19A7CE"/>
                </a:solidFill>
              </a:rPr>
              <a:t>当前最快策略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4342C-C20A-4604-946B-0CEB2011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0B1F33"/>
                </a:solidFill>
              </a:defRPr>
            </a:pPr>
            <a:r>
              <a:rPr sz="1275" b="0" i="0">
                <a:solidFill>
                  <a:srgbClr val="0B1F33"/>
                </a:solidFill>
              </a:rPr>
              <a:t>比 fixed-16 快 10.15%</a:t>
            </a:r>
          </a:p>
          <a:p xmlns:a="http://schemas.openxmlformats.org/drawingml/2006/main">
            <a:pPr algn="ctr">
              <a:defRPr sz="1275" b="0" i="0">
                <a:solidFill>
                  <a:srgbClr val="0B1F33"/>
                </a:solidFill>
              </a:defRPr>
            </a:pPr>
            <a:r>
              <a:rPr sz="1275" b="0" i="0">
                <a:solidFill>
                  <a:srgbClr val="0B1F33"/>
                </a:solidFill>
              </a:rPr>
              <a:t>比 gpu-only 快 38.55%</a:t>
            </a:r>
          </a:p>
        </p:txBody>
      </p:sp>
    </p:spTree>
    <p:extLst>
      <p:ext uri="{BB962C8B-B14F-4D97-AF65-F5344CB8AC3E}">
        <p14:creationId xmlns:p14="http://schemas.microsoft.com/office/powerpoint/2010/main" val="45253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1F304-CBD7-47A7-813F-AE132CF0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9A7CE"/>
                </a:solidFill>
              </a:defRPr>
            </a:pPr>
            <a:r>
              <a:rPr sz="825" b="1" i="0">
                <a:solidFill>
                  <a:srgbClr val="19A7CE"/>
                </a:solidFill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F74A7-4DEB-4C0F-BE8A-8BB22202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182"/>
                </a:solidFill>
              </a:defRPr>
            </a:pPr>
            <a:r>
              <a:rPr sz="825" b="1" i="0">
                <a:solidFill>
                  <a:srgbClr val="627182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AA47D-8D41-424F-B01E-1CB0F923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8FFE1D-8043-4833-94A7-B60CDCD4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</a:defRPr>
            </a:pPr>
            <a:r>
              <a:rPr sz="2625" b="1" i="0">
                <a:solidFill>
                  <a:srgbClr val="0B1F33"/>
                </a:solidFill>
              </a:rPr>
              <a:t>真实负载让 GPU/PIM 分界随 layer-batch 改变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0DB78-F99B-4419-95C5-4F87A106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sieve-cycle-v1 不是固定 16；它从精确候选中逐层选择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819150" y="1714500"/>
          <a:ext xmlns:a="http://schemas.openxmlformats.org/drawingml/2006/main" cx="638175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5aa985101f423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41072-D688-4C4F-90C6-DF24CEE3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240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0A26D-419A-4484-8935-C7E8DAE5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3D8DFF"/>
                </a:solidFill>
              </a:defRPr>
            </a:pPr>
            <a:r>
              <a:rPr sz="2175" b="1" i="0">
                <a:solidFill>
                  <a:srgbClr val="3D8DFF"/>
                </a:solidFill>
              </a:rPr>
              <a:t>7–16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51F19-AF8D-4E01-868E-7B698023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431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182"/>
                </a:solidFill>
              </a:defRPr>
            </a:pPr>
            <a:r>
              <a:rPr sz="1050" b="0" i="0">
                <a:solidFill>
                  <a:srgbClr val="627182"/>
                </a:solidFill>
              </a:rPr>
              <a:t>GPU experts selected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77424-0326-4EE3-9AA8-62696632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813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523E5-F985-4316-B5C6-E61A0A7B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6B35"/>
                </a:solidFill>
              </a:defRPr>
            </a:pPr>
            <a:r>
              <a:rPr sz="2175" b="1" i="0">
                <a:solidFill>
                  <a:srgbClr val="FF6B35"/>
                </a:solidFill>
              </a:rPr>
              <a:t>12.765625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E37A5-08E9-476C-9CEB-33D2440F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004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182"/>
                </a:solidFill>
              </a:defRPr>
            </a:pPr>
            <a:r>
              <a:rPr sz="1050" b="0" i="0">
                <a:solidFill>
                  <a:srgbClr val="627182"/>
                </a:solidFill>
              </a:rPr>
              <a:t>mean GPU prefix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66CE4-23FF-470D-9BA1-C997504A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38650"/>
            <a:ext cx="2857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8750D-7D1E-47F9-8012-D992209C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9A7CE"/>
                </a:solidFill>
              </a:defRPr>
            </a:pPr>
            <a:r>
              <a:rPr sz="2175" b="1" i="0">
                <a:solidFill>
                  <a:srgbClr val="19A7CE"/>
                </a:solidFill>
              </a:rPr>
              <a:t>340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E0BE6-3A50-4F3D-9F4D-9B619BE8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5777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182"/>
                </a:solidFill>
              </a:defRPr>
            </a:pPr>
            <a:r>
              <a:rPr sz="1050" b="0" i="0">
                <a:solidFill>
                  <a:srgbClr val="627182"/>
                </a:solidFill>
              </a:rPr>
              <a:t>unique load signatures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349C0-ED11-487C-9E72-C32299C7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57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27182"/>
                </a:solidFill>
              </a:defRPr>
            </a:pPr>
            <a:r>
              <a:rPr sz="1050" b="0" i="0">
                <a:solidFill>
                  <a:srgbClr val="627182"/>
                </a:solidFill>
              </a:rPr>
              <a:t>301 signatures 出现 1 次；34 出现 2 次；5 出现 3 次。</a:t>
            </a:r>
          </a:p>
          <a:p xmlns:a="http://schemas.openxmlformats.org/drawingml/2006/main">
            <a:pPr algn="l">
              <a:defRPr sz="1050" b="0" i="0">
                <a:solidFill>
                  <a:srgbClr val="627182"/>
                </a:solidFill>
              </a:defRPr>
            </a:pPr>
            <a:r>
              <a:rPr sz="1050" b="0" i="0">
                <a:solidFill>
                  <a:srgbClr val="627182"/>
                </a:solidFill>
              </a:rPr>
              <a:t>没有 signature 映射到多个不同边界。</a:t>
            </a:r>
          </a:p>
        </p:txBody>
      </p:sp>
    </p:spTree>
    <p:extLst>
      <p:ext uri="{BB962C8B-B14F-4D97-AF65-F5344CB8AC3E}">
        <p14:creationId xmlns:p14="http://schemas.microsoft.com/office/powerpoint/2010/main" val="736739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7E47F-4BC0-4B03-AB84-E392EA33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9A7CE"/>
                </a:solidFill>
              </a:defRPr>
            </a:pPr>
            <a:r>
              <a:rPr sz="825" b="1" i="0">
                <a:solidFill>
                  <a:srgbClr val="19A7CE"/>
                </a:solidFill>
              </a:rPr>
              <a:t>ABLATION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AEA8D-2CC0-4DE8-9B6F-BA4F3912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182"/>
                </a:solidFill>
              </a:defRPr>
            </a:pPr>
            <a:r>
              <a:rPr sz="825" b="1" i="0">
                <a:solidFill>
                  <a:srgbClr val="627182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896E0-ED56-4B65-92D7-DBE10AB5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8B7E62-3C79-42FB-B8E7-3C7CA924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</a:defRPr>
            </a:pPr>
            <a:r>
              <a:rPr sz="2625" b="1" i="0">
                <a:solidFill>
                  <a:srgbClr val="0B1F33"/>
                </a:solidFill>
              </a:rPr>
              <a:t>动态搜索相对固定 16 专家有实际收益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11BF7-86B4-492A-B9E3-DC239E49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真实负载下，合成 Trace 阶段的“完全相同”不再成立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952500" y="1866900"/>
          <a:ext xmlns:a="http://schemas.openxmlformats.org/drawingml/2006/main" cx="5905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98dbb0d62d495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F8BF8-B50E-4ABE-BEA6-C03A767B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314325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1DB6F-8E89-4A5D-B19B-89206E48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19A7CE"/>
                </a:solidFill>
              </a:defRPr>
            </a:pPr>
            <a:r>
              <a:rPr sz="3000" b="1" i="0">
                <a:solidFill>
                  <a:srgbClr val="19A7CE"/>
                </a:solidFill>
              </a:rPr>
              <a:t>10.15%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F9AAA-7304-4DFF-BF4A-C5D8AEA5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384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dynamic search 更快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C9D3C-55FB-4979-B43E-A80F85C5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86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0B1F33"/>
                </a:solidFill>
              </a:defRPr>
            </a:pPr>
            <a:r>
              <a:rPr sz="1425" b="0" i="0">
                <a:solidFill>
                  <a:srgbClr val="0B1F33"/>
                </a:solidFill>
              </a:rPr>
              <a:t>376 / 384 layer-batches 更快</a:t>
            </a:r>
          </a:p>
          <a:p xmlns:a="http://schemas.openxmlformats.org/drawingml/2006/main">
            <a:pPr algn="ctr">
              <a:defRPr sz="1425" b="0" i="0">
                <a:solidFill>
                  <a:srgbClr val="0B1F33"/>
                </a:solidFill>
              </a:defRPr>
            </a:pPr>
            <a:r>
              <a:rPr sz="1425" b="0" i="0">
                <a:solidFill>
                  <a:srgbClr val="0B1F33"/>
                </a:solidFill>
              </a:rPr>
              <a:t>8 / 384 与 fixed-16 持平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7735F-3F28-4EE7-9579-11E7B040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76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固定 16 仍是一个有用的工程 baseline，</a:t>
            </a:r>
          </a:p>
          <a:p xmlns:a="http://schemas.openxmlformats.org/drawingml/2006/main">
            <a:pPr algn="ctr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但不再是当前真实负载的最优分界。</a:t>
            </a:r>
          </a:p>
        </p:txBody>
      </p:sp>
    </p:spTree>
    <p:extLst>
      <p:ext uri="{BB962C8B-B14F-4D97-AF65-F5344CB8AC3E}">
        <p14:creationId xmlns:p14="http://schemas.microsoft.com/office/powerpoint/2010/main" val="1927990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4CAE2-7D35-444D-BE4D-A39F4A3F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9A7CE"/>
                </a:solidFill>
              </a:defRPr>
            </a:pPr>
            <a:r>
              <a:rPr sz="825" b="1" i="0">
                <a:solidFill>
                  <a:srgbClr val="19A7CE"/>
                </a:solidFill>
              </a:rPr>
              <a:t>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7AAFE-5D99-4B23-BD04-5B973131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182"/>
                </a:solidFill>
              </a:defRPr>
            </a:pPr>
            <a:r>
              <a:rPr sz="825" b="1" i="0">
                <a:solidFill>
                  <a:srgbClr val="627182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FED6A-0397-49EA-9EBF-9FC55391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7147F0-CC61-4DBE-8409-F4F62CBF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</a:defRPr>
            </a:pPr>
            <a:r>
              <a:rPr sz="2625" b="1" i="0">
                <a:solidFill>
                  <a:srgbClr val="0B1F33"/>
                </a:solidFill>
              </a:rPr>
              <a:t>v0 → v1 的变化最大来自后端替换，不应全部叫竞争惩罚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FA40D-D180-4799-A82D-4FB25D24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共同的五个策略；单位：ms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57a37e5ae642a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B7F4E-514A-4947-BFE8-AC51C7CF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81200"/>
            <a:ext cx="2819400" cy="333375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379AA-888A-47A4-AD0B-8C1F334A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</a:defRPr>
            </a:pPr>
            <a:r>
              <a:rPr sz="1650" b="1" i="0">
                <a:solidFill>
                  <a:srgbClr val="0B1F33"/>
                </a:solidFill>
              </a:rPr>
              <a:t>怎么读这张图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1C02F-5C4F-4A0E-B7A2-E244D0A1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57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9A7CE"/>
                </a:solidFill>
              </a:defRPr>
            </a:pPr>
            <a:r>
              <a:rPr sz="1500" b="1" i="0">
                <a:solidFill>
                  <a:srgbClr val="19A7CE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08190-78CB-4E99-A6DC-BA5DC3BB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194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gpu-only 没有 PIM 竞争，</a:t>
            </a:r>
          </a:p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但 GPU READ 后端也换成了 Ramulator。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798C5-211C-46C9-A5D7-63733335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6B35"/>
                </a:solidFill>
              </a:defRPr>
            </a:pPr>
            <a:r>
              <a:rPr sz="1500" b="1" i="0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CA7F7-EF6A-4309-9BAD-EAA582EC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385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allexp / pimoe / sieve</a:t>
            </a:r>
          </a:p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还叠加了 PIM 命令与 placement 变化。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50EB5-E8D2-457F-822D-250A01FB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958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B84B"/>
                </a:solidFill>
              </a:defRPr>
            </a:pPr>
            <a:r>
              <a:rPr sz="1500" b="1" i="0">
                <a:solidFill>
                  <a:srgbClr val="F2B84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3438A-D7E2-4795-9EF3-03AF0CB5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5770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显式 contention delta</a:t>
            </a:r>
          </a:p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需要单独看 isolated / contended 报告。</a:t>
            </a:r>
          </a:p>
        </p:txBody>
      </p:sp>
    </p:spTree>
    <p:extLst>
      <p:ext uri="{BB962C8B-B14F-4D97-AF65-F5344CB8AC3E}">
        <p14:creationId xmlns:p14="http://schemas.microsoft.com/office/powerpoint/2010/main" val="2154441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8D4E5-461D-4EB0-9441-394BD4A9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9A7CE"/>
                </a:solidFill>
              </a:defRPr>
            </a:pPr>
            <a:r>
              <a:rPr sz="825" b="1" i="0">
                <a:solidFill>
                  <a:srgbClr val="19A7CE"/>
                </a:solidFill>
              </a:rPr>
              <a:t>CONTENTION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7F0E5-934E-43A4-BD05-B37BDE28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182"/>
                </a:solidFill>
              </a:defRPr>
            </a:pPr>
            <a:r>
              <a:rPr sz="825" b="1" i="0">
                <a:solidFill>
                  <a:srgbClr val="627182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A3C5E-CB0A-4845-846E-657D5C55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AB3694-48EE-420F-BDC7-2FD9AFDF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</a:defRPr>
            </a:pPr>
            <a:r>
              <a:rPr sz="2625" b="1" i="0">
                <a:solidFill>
                  <a:srgbClr val="0B1F33"/>
                </a:solidFill>
              </a:rPr>
              <a:t>显式 contention delta 很小，主要收益来自更好的路径平衡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C271A-BD45-4984-B2AE-E6BB3D80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384 层累计 memory-phase delta；单位：us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00100" y="1790700"/>
          <a:ext xmlns:a="http://schemas.openxmlformats.org/drawingml/2006/main" cx="7239000" cy="3505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f9788379b6437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BF3B2-C7A0-45E6-B19D-DB7DE023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2667000" cy="26860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56C77-D959-4D12-AF23-00A21456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解释边界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A7681-5FBB-4F55-9A16-B84347B0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9560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9A7CE"/>
                </a:solidFill>
              </a:defRPr>
            </a:pPr>
            <a:r>
              <a:rPr sz="1500" b="1" i="0">
                <a:solidFill>
                  <a:srgbClr val="19A7CE"/>
                </a:solidFill>
              </a:rPr>
              <a:t>PIM delta</a:t>
            </a:r>
          </a:p>
          <a:p xmlns:a="http://schemas.openxmlformats.org/drawingml/2006/main">
            <a:pPr algn="ctr">
              <a:defRPr sz="1500" b="1" i="0">
                <a:solidFill>
                  <a:srgbClr val="19A7CE"/>
                </a:solidFill>
              </a:defRPr>
            </a:pPr>
            <a:r>
              <a:rPr sz="1500" b="1" i="0">
                <a:solidFill>
                  <a:srgbClr val="19A7CE"/>
                </a:solidFill>
              </a:rPr>
              <a:t>≈ +0.45 到 +1.19 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F0F83-4545-4E50-9242-D9D4FFFB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负 GPU delta 来自</a:t>
            </a:r>
          </a:p>
          <a:p xmlns:a="http://schemas.openxmlformats.org/drawingml/2006/main">
            <a:pPr algn="ct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请求完成顺序变化，</a:t>
            </a:r>
          </a:p>
          <a:p xmlns:a="http://schemas.openxmlformats.org/drawingml/2006/main">
            <a:pPr algn="ct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不是竞争带来加速。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5BEE3-BA70-4368-A9C1-CF68222E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388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结论：cycle-v1 的主要贡献是</a:t>
            </a:r>
          </a:p>
          <a:p xmlns:a="http://schemas.openxmlformats.org/drawingml/2006/main">
            <a:pPr algn="ctr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提供可用于 placement 的精确路径时延。</a:t>
            </a:r>
          </a:p>
        </p:txBody>
      </p:sp>
    </p:spTree>
    <p:extLst>
      <p:ext uri="{BB962C8B-B14F-4D97-AF65-F5344CB8AC3E}">
        <p14:creationId xmlns:p14="http://schemas.microsoft.com/office/powerpoint/2010/main" val="1149020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4E6B20-C8C0-442F-8DE5-B8477A8A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9A7CE"/>
                </a:solidFill>
              </a:defRPr>
            </a:pPr>
            <a:r>
              <a:rPr sz="825" b="1" i="0">
                <a:solidFill>
                  <a:srgbClr val="19A7CE"/>
                </a:solidFill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8DA77-8C7B-4505-8A57-EE2DC2CC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27182"/>
                </a:solidFill>
              </a:defRPr>
            </a:pPr>
            <a:r>
              <a:rPr sz="825" b="1" i="0">
                <a:solidFill>
                  <a:srgbClr val="627182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94BAD-C2EE-44A6-97BA-51B38274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491E2C-C133-4EBC-BEAC-496FB1C4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1F33"/>
                </a:solidFill>
              </a:defRPr>
            </a:pPr>
            <a:r>
              <a:rPr sz="2625" b="1" i="0">
                <a:solidFill>
                  <a:srgbClr val="0B1F33"/>
                </a:solidFill>
              </a:rPr>
              <a:t>三条结论，和三条必须保留的边界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A1723-F749-4F56-9DCF-023B6693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7182"/>
                </a:solidFill>
              </a:defRPr>
            </a:pPr>
            <a:r>
              <a:rPr sz="1275" b="0" i="0">
                <a:solidFill>
                  <a:srgbClr val="627182"/>
                </a:solidFill>
              </a:rPr>
              <a:t>适合作为组会讨论的收束页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D4598-AF2E-47ED-9881-167E36AB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5295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65D5A-AEC3-48A4-9E53-1B9FF640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288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</a:defRPr>
            </a:pPr>
            <a:r>
              <a:rPr sz="1800" b="1" i="0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47488-E582-4445-9CDD-0971854D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431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真实 Router Trace 触发了动态分界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5873D-AC35-49A1-8FC3-63735057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57425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GPU prefix 在 7–16 之间变化；340 个 signature 纳入决策。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3A998-674D-45C5-B4FB-70D3B868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5295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23540-2BC4-4200-9F43-0A2E303B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6B35"/>
                </a:solidFill>
              </a:defRPr>
            </a:pPr>
            <a:r>
              <a:rPr sz="1800" b="1" i="0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DEB34-3BE9-492A-BB32-C33D9FD0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099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精确动态搜索在当前 pilot 上最快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20046-74CA-4372-B065-0CF3E4DC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24225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sieve-cycle-v1 = 30.551 ms；比 fixed-16 快 10.15%。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A8E92-5B66-46E0-995D-69BFADAC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52959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AAA25-5C0E-4009-93AF-11469D1D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6242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9A7CE"/>
                </a:solidFill>
              </a:defRPr>
            </a:pPr>
            <a:r>
              <a:rPr sz="1800" b="1" i="0">
                <a:solidFill>
                  <a:srgbClr val="19A7CE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C261C-DEC1-411D-8140-F185F368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1F33"/>
                </a:solidFill>
              </a:defRPr>
            </a:pPr>
            <a:r>
              <a:rPr sz="1500" b="1" i="0">
                <a:solidFill>
                  <a:srgbClr val="0B1F33"/>
                </a:solidFill>
              </a:rPr>
              <a:t>收益来自路径重估，不是巨大竞争惩罚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299AC-90DF-420A-8500-3435B5ED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91025"/>
            <a:ext cx="415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7182"/>
                </a:solidFill>
              </a:defRPr>
            </a:pPr>
            <a:r>
              <a:rPr sz="1125" b="0" i="0">
                <a:solidFill>
                  <a:srgbClr val="627182"/>
                </a:solidFill>
              </a:rPr>
              <a:t>显式 PIM contention delta 仅约 0.45–1.19 us。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1F81F-81C1-40FC-BBC6-43031F49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90700"/>
            <a:ext cx="44577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0F3F6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2BF50-519A-4FFA-821F-8ED832EB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19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1F33"/>
                </a:solidFill>
              </a:defRPr>
            </a:pPr>
            <a:r>
              <a:rPr sz="1725" b="1" i="0">
                <a:solidFill>
                  <a:srgbClr val="0B1F33"/>
                </a:solidFill>
              </a:rPr>
              <a:t>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FE0B51-E840-41DC-8D61-39FC3625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14600"/>
            <a:ext cx="38862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• GPU 算术、Router、Scheduler、GPU Attention 仍是解析模型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• GPU READ 是抽象顺序请求流，不是真实 GPU memory trace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• 8-step pilot、无刷新、无多 GPU / NVLink / Shared CXL-PIM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627182"/>
                </a:solidFill>
              </a:defRPr>
            </a:pPr>
            <a:r>
              <a:rPr sz="1200" b="0" i="0">
                <a:solidFill>
                  <a:srgbClr val="627182"/>
                </a:solidFill>
              </a:rPr>
              <a:t>• pimoe 是静态阈值占位策略，不是论文复现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ACE1A-CFCC-4229-97F6-0CEA7F5E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401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453A9-1962-432A-9059-A524241B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14975"/>
            <a:ext cx="982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下一步：扩大 decode steps / prompt groups，并校准 GPU memory behavior。</a:t>
            </a:r>
          </a:p>
        </p:txBody>
      </p:sp>
    </p:spTree>
    <p:extLst>
      <p:ext uri="{BB962C8B-B14F-4D97-AF65-F5344CB8AC3E}">
        <p14:creationId xmlns:p14="http://schemas.microsoft.com/office/powerpoint/2010/main" val="1518001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2026-08-31T12:43:59.9550000Z</dcterms:created>
  <dcterms:modified xsi:type="dcterms:W3CDTF">2026-08-31T12:43:59.9550000Z</dcterms:modified>
</coreProperties>
</file>